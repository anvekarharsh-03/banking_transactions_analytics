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2E75B6"/>
            </a:solidFill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2180</c:v>
                </c:pt>
                <c:pt idx="1">
                  <c:v>1980</c:v>
                </c:pt>
                <c:pt idx="2">
                  <c:v>2090</c:v>
                </c:pt>
                <c:pt idx="3">
                  <c:v>2060</c:v>
                </c:pt>
                <c:pt idx="4">
                  <c:v>2120</c:v>
                </c:pt>
                <c:pt idx="5">
                  <c:v>2050</c:v>
                </c:pt>
                <c:pt idx="6">
                  <c:v>2200</c:v>
                </c:pt>
                <c:pt idx="7">
                  <c:v>2160</c:v>
                </c:pt>
                <c:pt idx="8">
                  <c:v>2080</c:v>
                </c:pt>
                <c:pt idx="9">
                  <c:v>2140</c:v>
                </c:pt>
                <c:pt idx="10">
                  <c:v>2100</c:v>
                </c:pt>
                <c:pt idx="11">
                  <c:v>2140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4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E4F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POS</c:v>
                  </c:pt>
                  <c:pt idx="1">
                    <c:v>MOBILE</c:v>
                  </c:pt>
                  <c:pt idx="2">
                    <c:v>ONLINE</c:v>
                  </c:pt>
                  <c:pt idx="3">
                    <c:v>ATM</c:v>
                  </c:pt>
                  <c:pt idx="4">
                    <c:v>BRANCH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</c:v>
                </c:pt>
                <c:pt idx="1">
                  <c:v>128</c:v>
                </c:pt>
                <c:pt idx="2">
                  <c:v>128</c:v>
                </c:pt>
                <c:pt idx="3">
                  <c:v>126</c:v>
                </c:pt>
                <c:pt idx="4">
                  <c:v>124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E4F0"/>
              </a:solidFill>
              <a:effectLst/>
            </c:spPr>
          </c:dPt>
          <c:dPt>
            <c:idx val="1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bubble3D val="0"/>
            <c:spPr>
              <a:solidFill>
                <a:srgbClr val="2E5496"/>
              </a:solidFill>
              <a:effectLst/>
            </c:spPr>
          </c:dPt>
          <c:dPt>
            <c:idx val="3"/>
            <c:bubble3D val="0"/>
            <c:spPr>
              <a:solidFill>
                <a:srgbClr val="1F386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Gold</c:v>
                </c:pt>
                <c:pt idx="2">
                  <c:v>Silver</c:v>
                </c:pt>
                <c:pt idx="3">
                  <c:v>Platinum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86</c:v>
                </c:pt>
                <c:pt idx="1">
                  <c:v>70</c:v>
                </c:pt>
                <c:pt idx="2">
                  <c:v>35</c:v>
                </c:pt>
                <c:pt idx="3">
                  <c:v>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(₹M)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4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E4F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Platinum</c:v>
                  </c:pt>
                  <c:pt idx="1">
                    <c:v>Gold</c:v>
                  </c:pt>
                  <c:pt idx="2">
                    <c:v>Silver</c:v>
                  </c:pt>
                  <c:pt idx="3">
                    <c:v>Standard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</c:v>
                </c:pt>
                <c:pt idx="1">
                  <c:v>2.2</c:v>
                </c:pt>
                <c:pt idx="2">
                  <c:v>1.8</c:v>
                </c:pt>
                <c:pt idx="3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F5E9"/>
              </a:solidFill>
              <a:effectLst/>
            </c:spPr>
          </c:dPt>
          <c:dPt>
            <c:idx val="1"/>
            <c:bubble3D val="0"/>
            <c:spPr>
              <a:solidFill>
                <a:srgbClr val="B7770D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131</c:v>
                </c:pt>
                <c:pt idx="1">
                  <c:v>63</c:v>
                </c:pt>
                <c:pt idx="2">
                  <c:v>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 %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4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EC6E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ONLINE</c:v>
                  </c:pt>
                  <c:pt idx="1">
                    <c:v>MOBILE</c:v>
                  </c:pt>
                  <c:pt idx="2">
                    <c:v>BRANCH</c:v>
                  </c:pt>
                  <c:pt idx="3">
                    <c:v>POS</c:v>
                  </c:pt>
                  <c:pt idx="4">
                    <c:v>ATM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20.6</c:v>
                </c:pt>
                <c:pt idx="1">
                  <c:v>20</c:v>
                </c:pt>
                <c:pt idx="2">
                  <c:v>19.9</c:v>
                </c:pt>
                <c:pt idx="3">
                  <c:v>19.9</c:v>
                </c:pt>
                <c:pt idx="4">
                  <c:v>19.5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ETL Pipeline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457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015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processing 25,500 banking transactions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automated quality checks, trend analysis &amp; risk intelligence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315968"/>
            <a:ext cx="228600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525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Processed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4315968"/>
            <a:ext cx="228600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43525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Success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4315968"/>
            <a:ext cx="228600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43525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76072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Views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21040" y="4315968"/>
            <a:ext cx="228600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43525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&amp; Community Banking  ·  Data Analytics &amp; Reporting  ·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9418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97864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pipeline was built and what business question it answers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11430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457200" cy="45720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700784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568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design — Extract, Transform, Load — and technology choices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1430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78024"/>
            <a:ext cx="457200" cy="45720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2459736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Pipeline Health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157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25,500 records were validated, cleaned and tracked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99232"/>
            <a:ext cx="11430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36976"/>
            <a:ext cx="457200" cy="45720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21868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 &amp; Trend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747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volume, success rates and channel performance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58184"/>
            <a:ext cx="11430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995928"/>
            <a:ext cx="457200" cy="45720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397764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23367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— Platinum, Gold, Silver, Standard — and spend patterns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517136"/>
            <a:ext cx="11430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754880"/>
            <a:ext cx="457200" cy="45720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473659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Fraud Intelligence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992624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analysis and high-risk customer flagging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5276088"/>
            <a:ext cx="11430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5513832"/>
            <a:ext cx="457200" cy="45720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513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5840" y="5495544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5840" y="575157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the business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this pipeline was designed to solve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430000" cy="1005840"/>
          </a:xfrm>
          <a:prstGeom prst="rect">
            <a:avLst/>
          </a:prstGeom>
          <a:solidFill>
            <a:srgbClr val="1F386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banking teams generate 25,000+ transactions monthly across 5 channels. Without a structured pipeline, analysts spent hours manually cleaning data — leaving no time for the trend analysis and risk flagging that drives business decisions.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7490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37490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raw CSVs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3101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or quality checks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went undetected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of processing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103120"/>
            <a:ext cx="37490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103120"/>
            <a:ext cx="37490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212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34840" y="2487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Pipeline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extracts &amp; stages raw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33101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transform &amp; validation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694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production schema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40782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per run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2103120"/>
            <a:ext cx="37490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2103120"/>
            <a:ext cx="3749040" cy="54864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2212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66760" y="2487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Delivered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25,103 clean records loaded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33101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customers auto-flagged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3694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 auto-reported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40782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MySQL ETL pipeline — end-to-end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737360" cy="23774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extract.py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83664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raw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25,500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stg_transactions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75688" y="2148840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67712" y="1097280"/>
            <a:ext cx="1737360" cy="2377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67712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67712" y="14813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178308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1883664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quality checks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Null, type, 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2148840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15384" y="1097280"/>
            <a:ext cx="1737360" cy="2377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15384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15384" y="14813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transform.py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52544" y="178308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15384" y="1883664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is_large_txn flag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txn_month column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71032" y="2148840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1097280"/>
            <a:ext cx="1737360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63056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63056" y="14813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load.py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0216" y="178308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1883664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logic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18704" y="2148840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0728" y="1097280"/>
            <a:ext cx="1737360" cy="2377440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10728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10728" y="14813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Views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47888" y="178308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0728" y="1883664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SQL views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risk, segment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category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66376" y="2148840"/>
            <a:ext cx="164592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0" y="1097280"/>
            <a:ext cx="1737360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5840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0" y="14813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195560" y="1783080"/>
            <a:ext cx="1463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0" y="1883664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MySQL connect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+ drilldowns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3749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397764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5488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Transform, Load scripting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24912" y="397764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83464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83464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+ production schema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84064" y="397764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193792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PyMySQL / Pandas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93792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connector + data manipulation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43216" y="397764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552944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52944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&amp; reporting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802368" y="397764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912096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+ openpyxl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912096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 + Excel export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937760"/>
            <a:ext cx="11430000" cy="1508760"/>
          </a:xfrm>
          <a:prstGeom prst="rect">
            <a:avLst/>
          </a:prstGeom>
          <a:solidFill>
            <a:srgbClr val="1F386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94360" y="50109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7-Step Transform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94360" y="528523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Strip whitespace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94360" y="55412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Standardise casing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94360" y="579729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Drop null critical fields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4360" y="605332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 amounts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23560" y="528523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 dates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623560" y="55412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Validate status values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623560" y="579729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Remove duplicates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858000" y="5285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 records rejected  ·  25,103 loaded  ·  98.4% success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pipeline output and transaction health — FY 2024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25,103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51406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₹634.78M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1651406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515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1651406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91440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0515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69680" y="1651406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Customers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 VOLUME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542032"/>
            <a:ext cx="71323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9" name="Chart 0" descr=""/>
          <p:cNvGraphicFramePr/>
          <p:nvPr/>
        </p:nvGraphicFramePr>
        <p:xfrm>
          <a:off x="365760" y="2542032"/>
          <a:ext cx="7132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777240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CHANNEL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772400" y="2542032"/>
            <a:ext cx="40233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22" name="Chart 1" descr=""/>
          <p:cNvGraphicFramePr/>
          <p:nvPr/>
        </p:nvGraphicFramePr>
        <p:xfrm>
          <a:off x="7772400" y="2542032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365760" y="5440680"/>
            <a:ext cx="11430000" cy="914400"/>
          </a:xfrm>
          <a:prstGeom prst="rect">
            <a:avLst/>
          </a:prstGeom>
          <a:solidFill>
            <a:srgbClr val="EEF4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5760" y="5440680"/>
            <a:ext cx="54864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5486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8640" y="57424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volumes remained stable across all 12 months (avg. 2,100/month) with no seasonal concentration risk. All 5 channels contribute near-equal volume (124–130M), indicating healthy channel diversification with no single point of failure.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and spend analysis across 200 customers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474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538021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914400"/>
            <a:ext cx="3474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105156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0" y="1538021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914400"/>
            <a:ext cx="3474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0" y="105156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₹1.88M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863840" y="1538021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/ Customer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DISTRIBUTION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1148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365760" y="233172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754880" y="2103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BY SEGMENT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54880" y="2331720"/>
            <a:ext cx="70408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9" name="Chart 1" descr=""/>
          <p:cNvGraphicFramePr/>
          <p:nvPr/>
        </p:nvGraphicFramePr>
        <p:xfrm>
          <a:off x="4754880" y="2331720"/>
          <a:ext cx="7040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Shape 16"/>
          <p:cNvSpPr/>
          <p:nvPr/>
        </p:nvSpPr>
        <p:spPr>
          <a:xfrm>
            <a:off x="365760" y="6126480"/>
            <a:ext cx="11430000" cy="548640"/>
          </a:xfrm>
          <a:prstGeom prst="rect">
            <a:avLst/>
          </a:prstGeom>
          <a:solidFill>
            <a:srgbClr val="EEF4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6126480"/>
            <a:ext cx="54864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4360" y="6172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customers (4.5% of base) generate 2.15x the spend of Standard customers — targeted retention of this segment is high-priority.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Fraud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analysis and high-risk customer identification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538021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Flagged 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1538021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Failure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5156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1538021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Failure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91440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05156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69680" y="1538021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Failure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9" name="Chart 0" descr=""/>
          <p:cNvGraphicFramePr/>
          <p:nvPr/>
        </p:nvGraphicFramePr>
        <p:xfrm>
          <a:off x="365760" y="2331720"/>
          <a:ext cx="4114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4754880" y="2103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BY CHANNEL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754880" y="2331720"/>
            <a:ext cx="7040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22" name="Chart 1" descr=""/>
          <p:cNvGraphicFramePr/>
          <p:nvPr/>
        </p:nvGraphicFramePr>
        <p:xfrm>
          <a:off x="4754880" y="2331720"/>
          <a:ext cx="70408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4754880" y="44348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HIGH RISK CUSTOMERS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4754880" y="4645152"/>
            <a:ext cx="7040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4645152"/>
          <a:ext cx="704088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  <a:gridCol w="13716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Customer 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Txns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Failed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Fail Rate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 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CUST0116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31.54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HIGH 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CUST0089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30.00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HIGH 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CUST0045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29.60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HIGH 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CUST0039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27.13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770D"/>
                          </a:solidFill>
                        </a:rPr>
                        <a:t>MEDIUM 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365760" y="6565392"/>
            <a:ext cx="11430000" cy="502920"/>
          </a:xfrm>
          <a:prstGeom prst="rect">
            <a:avLst/>
          </a:prstGeom>
          <a:solidFill>
            <a:srgbClr val="FDECE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6565392"/>
            <a:ext cx="54864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94360" y="6611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rates are near-uniform across channels (19.5–20.6%) suggesting a systemic issue rather than a channel-specific one — recommend reviewing authentication and timeout policies.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the Consumer &amp; Community Banking business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5778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57784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097280"/>
            <a:ext cx="347472" cy="3474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1097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Diversification is Strong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5544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75564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channels (POS, Mobile, Online, ATM, Branch) contribute near-equal volume (124–130M), eliminating single-channel dependency.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2514600"/>
            <a:ext cx="52120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060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8072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equally across channels. No consolidation risk identified.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55778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60120"/>
            <a:ext cx="55778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1097280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93992" y="1097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Segment Drives Outsized 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36792" y="15544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36792" y="175564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Platinum customers (4.5% of base) generate 2.15x the spend of Standard customers, with avg spend of ₹2.8M per customer.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36792" y="2514600"/>
            <a:ext cx="52120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26060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36792" y="28072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dedicated Platinum retention programme with personalised relationship managers.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55778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49040"/>
            <a:ext cx="55778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886200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7552" y="3886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Failure Rate Requires Attention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" y="43434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" y="454456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rates are near-uniform across all channels (19.5–20.6%), pointing to a systemic backend issue rather than channel-specific problems.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" y="5303520"/>
            <a:ext cx="52120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53949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" y="55961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authentication, timeout, and retry policies. Target &lt;10% failure rate within Q2.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3749040"/>
            <a:ext cx="55778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749040"/>
            <a:ext cx="5577840" cy="45720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6792" y="3886200"/>
            <a:ext cx="347472" cy="347472"/>
          </a:xfrm>
          <a:prstGeom prst="ellipse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93992" y="3886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Delivers Reliable Data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36792" y="43434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36792" y="454456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 of records loaded successfully. 397 records rejected with full audit trail. Zero manual intervention required.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36792" y="5303520"/>
            <a:ext cx="52120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53949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36792" y="55961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daily automated runs. Integrate rejection alerts into ops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57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14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MySQL · Power 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7673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Processed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0" y="37673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3200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212080" y="37673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3200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98080" y="37673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0" y="3200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784080" y="37673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Success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Reporting Team  ·  Consumer &amp; Community Banking  ·  FY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2026-04-21T09:19:47Z</dcterms:created>
  <dcterms:modified xsi:type="dcterms:W3CDTF">2026-04-21T09:19:47Z</dcterms:modified>
</cp:coreProperties>
</file>